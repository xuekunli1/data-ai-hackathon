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7"/>
  </p:normalViewPr>
  <p:slideViewPr>
    <p:cSldViewPr snapToGrid="0" snapToObjects="1">
      <p:cViewPr varScale="1">
        <p:scale>
          <a:sx n="126" d="100"/>
          <a:sy n="126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C322B-A03E-EE44-948F-8AF6B3C3DBF0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2F5D8-E26F-BC49-BFAE-99595A7BD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6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2F5D8-E26F-BC49-BFAE-99595A7BDD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BA0BA-1B76-8B44-808F-6780FAC3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F36AE6-0F4C-C146-8943-DA1A3EAEB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32088-A5E8-4348-ABDB-B1250240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3DA08-F8C6-A049-AD89-59922590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98DACF-C1B7-EF48-9B49-3B62E29B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209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6B4D0-1FB2-6F4C-8FFB-7B68C7F3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FD3EF9-EAF7-724B-A146-E4181BFBB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3563B-F671-4547-9FE5-1452BDD5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27002-2C4B-8749-899F-B9000BEB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12883-919E-744C-8176-F9FE932E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095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FC4A6-32AA-F24C-A848-AD8E62B5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EBC7D-592B-9E40-B3CF-066B17634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944FD-0147-0E4E-87FF-FA4A5441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B21B6A-0521-6445-9E95-A632705B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564A9-0322-C34B-AA3C-9DCCBFA0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878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7B17C-2F72-CA48-9E50-A12F09FB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A256D0-7FB6-B745-A6CD-53A1314DA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0BB4CC-26AB-CD4A-B5A9-AE975BD21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65A67C-1ACC-E44D-B3E5-7996E425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FE5D5D-4190-534F-965E-6572B016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FB6E0-11DD-7E4B-A529-B14134EB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81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7250D-4FEC-9B4D-8F58-4461F4F27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D5EEB1-77D1-E844-B689-F4CA40877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FA1FB6-FCF8-424D-902F-BAE96875E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08117C-805A-7045-AFCE-39EECD837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791839-F993-734D-8E82-F8B1C0F62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E318FB-83B0-7544-86D3-2BD42333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83C612-CDBB-CD4D-BC9D-DAF528CC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0E86F3-B10B-CB4F-A7C8-6519807E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236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32FD1-9196-0440-974B-12285028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DCF0EE-8D68-E645-A85A-350C8E2D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43A200-C910-7543-BAFF-2B8514B0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CD2C1D-3C14-B140-8051-6B9C55F2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279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A7C631-80BF-284C-BF98-49BA8F74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C90E2A-B576-8E46-965A-A1F3A476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4BC884-390F-1F4A-9C04-06184701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046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240EF-B699-4C45-A5F3-B4233181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FD60C-8637-CF47-9CDB-93DC2B7E1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D78F9B-0F1C-4E43-AC62-AFBD3BBB1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8A2EB-D352-FD4A-BE87-8E10B64A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A58795-995C-B945-9FB1-D2CCEB18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38BBF-0514-6A47-9690-2D7A34A8D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41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B0D48-0555-8740-B819-8B4A3499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53D057-C5BE-894F-A9D8-FE6BC7B0B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251827-6962-8E49-B8D3-897E1FC25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20FA5D-D476-9248-8DF3-6DF3FE9D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50BAA-50B5-3140-A185-6D29882B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59C5D6-2240-8848-B479-3069B9080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418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F09DB-901F-554C-AE56-AFB6187F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6551A7-1433-2E48-8705-8E6236509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6240D-5EEC-8048-93A3-B850EA71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166735-768B-7340-AE6C-160C75EE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E6700-4208-CC41-A46B-CC5AF89A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149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4E2D67-B98E-D04E-B2B9-44C3347C5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5C7F7A-893E-764A-BAA7-6DE610B5F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D87C3-35E5-914C-B9B2-C55C4762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9EBCD-7541-9141-8193-ADA291A3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E9A253-BA86-944B-B169-37BE39A4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519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2D0773-62BB-EF46-8393-F9190642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BDA1CD-7900-5F42-8AE1-8AB36A09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DEDE9-B52B-814E-AFC9-A92398A43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4A3C4-1B04-1E4F-A9C7-4825872718B6}" type="datetimeFigureOut">
              <a:rPr kumimoji="1" lang="zh-CN" altLang="en-US" smtClean="0"/>
              <a:t>2026/3/31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C6819E-C753-D740-97B2-57AC624E0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AED34-D328-5947-B0DF-0DC1AF3F6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0B09A-3925-234C-835F-668B67F6B8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48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1C5B0-6D2A-5C4A-9EB0-C453B9DA4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2109"/>
            <a:ext cx="9144000" cy="1334800"/>
          </a:xfrm>
        </p:spPr>
        <p:txBody>
          <a:bodyPr/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DATA-AI-Hackathon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3E5C8C-A672-A04B-9624-8ED2B0985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61502"/>
            <a:ext cx="12192001" cy="877186"/>
          </a:xfrm>
        </p:spPr>
        <p:txBody>
          <a:bodyPr>
            <a:normAutofit/>
          </a:bodyPr>
          <a:lstStyle/>
          <a:p>
            <a:r>
              <a:rPr kumimoji="1" lang="en-US" altLang="zh-CN" sz="3200" i="1" dirty="0">
                <a:latin typeface="Arial" panose="020B0604020202020204" pitchFamily="34" charset="0"/>
                <a:cs typeface="Arial" panose="020B0604020202020204" pitchFamily="34" charset="0"/>
              </a:rPr>
              <a:t>Hackathon Track1: Prescription Refill Risk &amp; Recommendations</a:t>
            </a:r>
            <a:endParaRPr kumimoji="1" lang="zh-CN" altLang="en-US" sz="3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F6DC57A-A857-8C48-92EC-0BE794473600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239E776-7956-3C41-9E30-3688EF91C10F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39AE30-94BF-0A46-9166-603A49F3DE79}"/>
              </a:ext>
            </a:extLst>
          </p:cNvPr>
          <p:cNvSpPr txBox="1"/>
          <p:nvPr/>
        </p:nvSpPr>
        <p:spPr>
          <a:xfrm>
            <a:off x="3231572" y="5741575"/>
            <a:ext cx="510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EC Stoner Cluster 6.61</a:t>
            </a:r>
          </a:p>
          <a:p>
            <a:pPr algn="ctr"/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30-31,Mar,2026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D83815-E753-F84D-8C0D-B36E3AF14FDD}"/>
              </a:ext>
            </a:extLst>
          </p:cNvPr>
          <p:cNvSpPr txBox="1"/>
          <p:nvPr/>
        </p:nvSpPr>
        <p:spPr>
          <a:xfrm>
            <a:off x="2538845" y="4323282"/>
            <a:ext cx="7865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Team leader: </a:t>
            </a:r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Xuekun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Li </a:t>
            </a:r>
          </a:p>
          <a:p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Team member: Dr. </a:t>
            </a:r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Shuang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Li (Visiting Research Fellow in School of Biology) 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87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E5244-15F4-B34C-AF9A-2CAD04B7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0361"/>
            <a:ext cx="10515600" cy="1325563"/>
          </a:xfrm>
        </p:spPr>
        <p:txBody>
          <a:bodyPr/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41951-270B-9948-BBA4-1776E11D8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4435"/>
            <a:ext cx="10515600" cy="42096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Theme &amp;&amp; Methodology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buNone/>
            </a:pPr>
            <a:endParaRPr kumimoji="1" lang="en-US" altLang="zh-CN" dirty="0"/>
          </a:p>
          <a:p>
            <a:endParaRPr kumimoji="1" lang="en-US" altLang="zh-CN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BE62056-523B-CF43-9CA6-1DC9DDABAAD4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6086209-29A9-7D49-B9A6-17EAA23F6EC2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77C28-5365-2842-9555-04912C299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4286"/>
            <a:ext cx="10515600" cy="1325563"/>
          </a:xfrm>
        </p:spPr>
        <p:txBody>
          <a:bodyPr/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75CB57-2729-C246-9BF4-D6C3D620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6327"/>
            <a:ext cx="8873359" cy="3350636"/>
          </a:xfrm>
        </p:spPr>
        <p:txBody>
          <a:bodyPr/>
          <a:lstStyle/>
          <a:p>
            <a:pPr marL="0" indent="0" algn="just">
              <a:buNone/>
            </a:pPr>
            <a:r>
              <a:rPr kumimoji="1"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As the UK's largest online pharmacy, </a:t>
            </a:r>
            <a:r>
              <a:rPr kumimoji="1" lang="en-GB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Pharmacy2U</a:t>
            </a:r>
            <a:r>
              <a:rPr kumimoji="1"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 handles a significant amount of digital prescription management for the NHS (National Health Service). </a:t>
            </a:r>
          </a:p>
          <a:p>
            <a:pPr marL="0" indent="0" algn="just">
              <a:buNone/>
            </a:pPr>
            <a:r>
              <a:rPr kumimoji="1"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In chronic disease management, </a:t>
            </a:r>
            <a:r>
              <a:rPr kumimoji="1" lang="en-GB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patient medication adherence</a:t>
            </a:r>
            <a:r>
              <a:rPr kumimoji="1"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 directly impacts </a:t>
            </a:r>
            <a:r>
              <a:rPr kumimoji="1" lang="en-GB" altLang="zh-CN" i="1" u="sng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treatment outcomes </a:t>
            </a:r>
            <a:r>
              <a:rPr kumimoji="1" lang="en-GB" altLang="zh-CN" i="1" u="sng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kumimoji="1" lang="en-GB" altLang="zh-CN" i="1" u="sng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public health expenditures</a:t>
            </a:r>
            <a:r>
              <a:rPr kumimoji="1"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F3A5FFF7-8487-0D4C-A54F-63A080FF094C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185CACC-7A7E-E946-9EDC-08C770493711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89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3299F-70F6-E24F-9D9E-347475DF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41" y="1256248"/>
            <a:ext cx="3502572" cy="1155964"/>
          </a:xfrm>
        </p:spPr>
        <p:txBody>
          <a:bodyPr/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59E672-32B9-3748-AF49-DB2353AF4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524" y="2412212"/>
            <a:ext cx="9192952" cy="38436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i="1" u="sng" dirty="0">
                <a:latin typeface="Arial" panose="020B0604020202020204" pitchFamily="34" charset="0"/>
                <a:cs typeface="Arial" panose="020B0604020202020204" pitchFamily="34" charset="0"/>
              </a:rPr>
              <a:t>Prescription refill risk &amp; responsible</a:t>
            </a:r>
            <a:r>
              <a:rPr kumimoji="1"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, built only from prescription order events.</a:t>
            </a:r>
          </a:p>
          <a:p>
            <a:pPr>
              <a:lnSpc>
                <a:spcPct val="150000"/>
              </a:lnSpc>
            </a:pPr>
            <a:r>
              <a:rPr kumimoji="1"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Questions:</a:t>
            </a:r>
          </a:p>
          <a:p>
            <a:pPr lvl="1">
              <a:lnSpc>
                <a:spcPct val="150000"/>
              </a:lnSpc>
            </a:pPr>
            <a:r>
              <a:rPr kumimoji="1"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Reactive Risk Identification</a:t>
            </a:r>
          </a:p>
          <a:p>
            <a:pPr lvl="1">
              <a:lnSpc>
                <a:spcPct val="150000"/>
              </a:lnSpc>
            </a:pPr>
            <a:r>
              <a:rPr kumimoji="1"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Difficulty in Quantifying Behaviors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zh-CN" alt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9644564-3A9B-054F-8ADC-D8FA8D84C127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CBEA3D6-1D64-394A-B115-C14E5843866C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99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9644564-3A9B-054F-8ADC-D8FA8D84C127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CBEA3D6-1D64-394A-B115-C14E5843866C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29852DA-EFE1-1002-CCB0-B31BE9A3DA05}"/>
              </a:ext>
            </a:extLst>
          </p:cNvPr>
          <p:cNvSpPr txBox="1">
            <a:spLocks/>
          </p:cNvSpPr>
          <p:nvPr/>
        </p:nvSpPr>
        <p:spPr>
          <a:xfrm>
            <a:off x="484176" y="1177340"/>
            <a:ext cx="5257800" cy="1155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2F2E039-866C-D683-CA14-F88A01014751}"/>
              </a:ext>
            </a:extLst>
          </p:cNvPr>
          <p:cNvSpPr txBox="1">
            <a:spLocks/>
          </p:cNvSpPr>
          <p:nvPr/>
        </p:nvSpPr>
        <p:spPr>
          <a:xfrm>
            <a:off x="833120" y="2546468"/>
            <a:ext cx="6156960" cy="4077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Data loading</a:t>
            </a:r>
          </a:p>
          <a:p>
            <a:endParaRPr kumimoji="1" lang="en-US" altLang="zh-C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Data preprocessing and censoring</a:t>
            </a:r>
          </a:p>
          <a:p>
            <a:endParaRPr kumimoji="1" lang="en-US" altLang="zh-C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Data preparing for Model training</a:t>
            </a:r>
          </a:p>
          <a:p>
            <a:endParaRPr kumimoji="1" lang="en-US" altLang="zh-CN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Model validation</a:t>
            </a:r>
          </a:p>
          <a:p>
            <a:pPr marL="0" indent="0">
              <a:buNone/>
            </a:pP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E7AC96-EBD9-83BA-B99E-F18E0BBD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2893073"/>
            <a:ext cx="3463378" cy="10063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F9DA89-A626-9B41-5CC8-6DEEABB298F8}"/>
              </a:ext>
            </a:extLst>
          </p:cNvPr>
          <p:cNvSpPr txBox="1"/>
          <p:nvPr/>
        </p:nvSpPr>
        <p:spPr>
          <a:xfrm>
            <a:off x="7315200" y="2333304"/>
            <a:ext cx="198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Risk score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020056-0795-8EC8-B704-105D29C2BB90}"/>
              </a:ext>
            </a:extLst>
          </p:cNvPr>
          <p:cNvSpPr txBox="1"/>
          <p:nvPr/>
        </p:nvSpPr>
        <p:spPr>
          <a:xfrm>
            <a:off x="7315200" y="4379827"/>
            <a:ext cx="447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Machine Learning  Algorithm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35D4ED-88B8-AB1E-0119-9F6173594F1B}"/>
              </a:ext>
            </a:extLst>
          </p:cNvPr>
          <p:cNvSpPr txBox="1"/>
          <p:nvPr/>
        </p:nvSpPr>
        <p:spPr>
          <a:xfrm>
            <a:off x="7315199" y="5205091"/>
            <a:ext cx="1988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10856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9CCC85A-0367-CDEC-42BF-1B076308A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2221"/>
            <a:ext cx="3248782" cy="2274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4477B6-C718-8DAF-6A9A-85D4426A2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190" y="2638623"/>
            <a:ext cx="3248781" cy="227414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BF3299F-70F6-E24F-9D9E-347475DF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375"/>
            <a:ext cx="10515600" cy="1015271"/>
          </a:xfrm>
        </p:spPr>
        <p:txBody>
          <a:bodyPr/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59E672-32B9-3748-AF49-DB2353AF4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628" y="1754213"/>
            <a:ext cx="10515600" cy="424304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MPR for the Patients</a:t>
            </a:r>
            <a:r>
              <a:rPr kumimoji="1" lang="zh-CN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from Dataset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9644564-3A9B-054F-8ADC-D8FA8D84C127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CBEA3D6-1D64-394A-B115-C14E5843866C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0873D-ED06-308D-B4DD-D9FD628BDB4F}"/>
              </a:ext>
            </a:extLst>
          </p:cNvPr>
          <p:cNvSpPr txBox="1"/>
          <p:nvPr/>
        </p:nvSpPr>
        <p:spPr>
          <a:xfrm>
            <a:off x="838200" y="2280437"/>
            <a:ext cx="40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8F3A8-6854-DEE8-3F8C-AE9EBE99FD6A}"/>
              </a:ext>
            </a:extLst>
          </p:cNvPr>
          <p:cNvSpPr txBox="1"/>
          <p:nvPr/>
        </p:nvSpPr>
        <p:spPr>
          <a:xfrm>
            <a:off x="4297189" y="2222889"/>
            <a:ext cx="40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EF1BC5-EAFC-D2DD-D071-04C9387C6842}"/>
              </a:ext>
            </a:extLst>
          </p:cNvPr>
          <p:cNvSpPr txBox="1"/>
          <p:nvPr/>
        </p:nvSpPr>
        <p:spPr>
          <a:xfrm>
            <a:off x="1171904" y="5505912"/>
            <a:ext cx="10145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Fig.1 the MPR the adherence threshold selection and the distribution.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A: the adherence threshold; B: the distribution of the MPR; C: the form of the MPR data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B8F6A2-F32C-E10A-C255-6F96CD679B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51" r="1"/>
          <a:stretch>
            <a:fillRect/>
          </a:stretch>
        </p:blipFill>
        <p:spPr>
          <a:xfrm>
            <a:off x="8230684" y="1607066"/>
            <a:ext cx="3248782" cy="35941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143AAB6-5F5F-807A-7B5B-61D6450FF7F2}"/>
              </a:ext>
            </a:extLst>
          </p:cNvPr>
          <p:cNvSpPr txBox="1"/>
          <p:nvPr/>
        </p:nvSpPr>
        <p:spPr>
          <a:xfrm>
            <a:off x="7682607" y="2202123"/>
            <a:ext cx="40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3306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06C5-D404-C13F-7338-1363BA3B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6E3BE1-8D33-F32E-D932-AE3833F6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19" y="2173217"/>
            <a:ext cx="4992781" cy="388723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81A6D65-2001-6E21-834C-7F8F3917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375"/>
            <a:ext cx="10515600" cy="1015271"/>
          </a:xfrm>
        </p:spPr>
        <p:txBody>
          <a:bodyPr/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B6C91-ADE8-26E9-C442-FA26DF6F9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628" y="1754213"/>
            <a:ext cx="5880012" cy="4243048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The evaluation of Metric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DF27387B-7645-67C8-A2E9-A1495CCEAFB2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09DD5AE-0FB0-E542-71C1-7214047D63ED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C1BFA-707A-B6AA-07DA-1588F57B7288}"/>
              </a:ext>
            </a:extLst>
          </p:cNvPr>
          <p:cNvSpPr txBox="1"/>
          <p:nvPr/>
        </p:nvSpPr>
        <p:spPr>
          <a:xfrm>
            <a:off x="396241" y="6033357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Fig.2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Precision-Recall Curve for the Logistic Regression Model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1CD52-E9BB-CE4E-5E2C-64CAF22C382C}"/>
              </a:ext>
            </a:extLst>
          </p:cNvPr>
          <p:cNvSpPr txBox="1"/>
          <p:nvPr/>
        </p:nvSpPr>
        <p:spPr>
          <a:xfrm>
            <a:off x="6341540" y="2113735"/>
            <a:ext cx="4992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 model maintains near-perfect precision across the recall spectrum, with only a marginal decline to 0.976 at the maximum recall threshold.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D44CB9-F18B-6407-D82C-30C985CC8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680" y="3704084"/>
            <a:ext cx="2476500" cy="825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CDC9A8-66C5-FD8C-9759-582097A12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618" y="4919604"/>
            <a:ext cx="29083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4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A6E31-1770-0645-A8E8-4320C27B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9BD5E-72EE-7D40-A1E5-B41E2C045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1017"/>
            <a:ext cx="10515600" cy="3225945"/>
          </a:xfrm>
        </p:spPr>
        <p:txBody>
          <a:bodyPr>
            <a:normAutofit/>
          </a:bodyPr>
          <a:lstStyle/>
          <a:p>
            <a:r>
              <a:rPr kumimoji="1" lang="en-US" altLang="zh-CN" sz="3600" i="1" dirty="0">
                <a:latin typeface="Arial" panose="020B0604020202020204" pitchFamily="34" charset="0"/>
                <a:cs typeface="Arial" panose="020B0604020202020204" pitchFamily="34" charset="0"/>
              </a:rPr>
              <a:t>Thanks for attention</a:t>
            </a:r>
            <a:endParaRPr kumimoji="1" lang="zh-CN" altLang="en-US" sz="3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A73B55E-EEA4-9242-89FD-D2BCAB8F3171}"/>
              </a:ext>
            </a:extLst>
          </p:cNvPr>
          <p:cNvCxnSpPr>
            <a:cxnSpLocks/>
          </p:cNvCxnSpPr>
          <p:nvPr/>
        </p:nvCxnSpPr>
        <p:spPr>
          <a:xfrm>
            <a:off x="0" y="1177637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3C6C9BB-1F02-674A-9EFB-E3BA7EB93237}"/>
              </a:ext>
            </a:extLst>
          </p:cNvPr>
          <p:cNvSpPr txBox="1"/>
          <p:nvPr/>
        </p:nvSpPr>
        <p:spPr>
          <a:xfrm>
            <a:off x="0" y="4679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Leeds</a:t>
            </a:r>
            <a:endParaRPr kumimoji="1"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200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243</Words>
  <Application>Microsoft Macintosh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Aptos</vt:lpstr>
      <vt:lpstr>Arial</vt:lpstr>
      <vt:lpstr>Office 主题​​</vt:lpstr>
      <vt:lpstr>DATA-AI-Hackathon</vt:lpstr>
      <vt:lpstr>content</vt:lpstr>
      <vt:lpstr>Background</vt:lpstr>
      <vt:lpstr>Theme</vt:lpstr>
      <vt:lpstr>PowerPoint Presentation</vt:lpstr>
      <vt:lpstr>Results</vt:lpstr>
      <vt:lpstr>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Hacktholon</dc:title>
  <dc:creator>Microsoft Office User</dc:creator>
  <cp:lastModifiedBy>a6280</cp:lastModifiedBy>
  <cp:revision>39</cp:revision>
  <dcterms:created xsi:type="dcterms:W3CDTF">2026-03-30T20:59:55Z</dcterms:created>
  <dcterms:modified xsi:type="dcterms:W3CDTF">2026-03-31T12:51:48Z</dcterms:modified>
</cp:coreProperties>
</file>